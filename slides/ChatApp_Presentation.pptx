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" y="-182880"/>
            <a:ext cx="4114800" cy="5669280"/>
          </a:xfrm>
          <a:prstGeom prst="rect">
            <a:avLst/>
          </a:prstGeom>
          <a:solidFill>
            <a:srgbClr val="243B6E"/>
          </a:solidFill>
          <a:ln w="12700">
            <a:solidFill>
              <a:srgbClr val="243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347472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8A6FF"/>
                </a:solidFill>
              </a:rPr>
              <a:t>PCCCS495 — Term II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Real-Time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Chat Application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2971800"/>
            <a:ext cx="256032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1089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4F0"/>
                </a:solidFill>
              </a:rPr>
              <a:t>Observer Pattern  +  Multithreading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4F0"/>
                </a:solidFill>
              </a:rPr>
              <a:t>Java  |  OOP Course Project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0" y="914400"/>
            <a:ext cx="4846320" cy="475488"/>
          </a:xfrm>
          <a:prstGeom prst="rect">
            <a:avLst/>
          </a:prstGeom>
          <a:solidFill>
            <a:srgbClr val="243B6E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914400"/>
            <a:ext cx="45720" cy="47548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69080" y="91440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Multi-Client TCP Server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0" y="1508760"/>
            <a:ext cx="4846320" cy="475488"/>
          </a:xfrm>
          <a:prstGeom prst="rect">
            <a:avLst/>
          </a:prstGeom>
          <a:solidFill>
            <a:srgbClr val="243B6E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1920" y="1508760"/>
            <a:ext cx="45720" cy="47548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69080" y="150876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Observer Pattern Core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31920" y="2103120"/>
            <a:ext cx="4846320" cy="475488"/>
          </a:xfrm>
          <a:prstGeom prst="rect">
            <a:avLst/>
          </a:prstGeom>
          <a:solidFill>
            <a:srgbClr val="243B6E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31920" y="2103120"/>
            <a:ext cx="45720" cy="47548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210312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Thread-Safe Collections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31920" y="2697480"/>
            <a:ext cx="4846320" cy="475488"/>
          </a:xfrm>
          <a:prstGeom prst="rect">
            <a:avLst/>
          </a:prstGeom>
          <a:solidFill>
            <a:srgbClr val="243B6E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2697480"/>
            <a:ext cx="45720" cy="47548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69080" y="269748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Swing GUI + Console Client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31920" y="3291840"/>
            <a:ext cx="4846320" cy="475488"/>
          </a:xfrm>
          <a:prstGeom prst="rect">
            <a:avLst/>
          </a:prstGeom>
          <a:solidFill>
            <a:srgbClr val="243B6E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0" y="3291840"/>
            <a:ext cx="45720" cy="47548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69080" y="329184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Unit + Integration Tests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3717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200" kern="0" dirty="0">
                <a:solidFill>
                  <a:srgbClr val="D6E4F0"/>
                </a:solidFill>
              </a:rPr>
              <a:t>REAL-TIME CHAT APPLICATION  |  OOP PROJECT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463040" cy="2194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Problem &amp; Solution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54864" cy="3566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5087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Basic chat programs handle only one client at a time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Polling loops obscure event-driven design principles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No separation between connection and notification logic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Impossible to reason about concurrency or scalability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6012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960120"/>
            <a:ext cx="54864" cy="3566160"/>
          </a:xfrm>
          <a:prstGeom prst="rect">
            <a:avLst/>
          </a:prstGeom>
          <a:solidFill>
            <a:srgbClr val="23C55E"/>
          </a:solidFill>
          <a:ln w="12700">
            <a:solidFill>
              <a:srgbClr val="23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515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C55E"/>
                </a:solidFill>
              </a:rPr>
              <a:t>Our Solution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5087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Each client runs on a dedicated thread via ExecutorService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Observer Pattern routes messages to all registered clients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CopyOnWriteArrayList keeps observer list thread-safe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LinkedBlockingQueue ensures race-condition-free broadcasts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83717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200" kern="0" dirty="0">
                <a:solidFill>
                  <a:srgbClr val="D6E4F0"/>
                </a:solidFill>
              </a:rPr>
              <a:t>PROBLEM &amp; SOLUTION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463040" cy="21945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OOP CONCEPTS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8 OOP Concepts in Practice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6052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45720" cy="8046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1498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Abstraction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34416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ChatObserver interface — update() contract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6052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960120"/>
            <a:ext cx="45720" cy="80467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01498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Inheritance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18888" y="134416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ClientHandler extends Thread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1965960"/>
            <a:ext cx="416052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965960"/>
            <a:ext cx="45720" cy="80467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02082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8166"/>
                </a:solidFill>
              </a:rPr>
              <a:t>Polymorphism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" y="235000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update() works on socket, logger, UI panel equally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1965960"/>
            <a:ext cx="416052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1965960"/>
            <a:ext cx="45720" cy="804672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02082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A8FF"/>
                </a:solidFill>
              </a:rPr>
              <a:t>Encapsulation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18888" y="235000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ChatServer hides observer list from outside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971800"/>
            <a:ext cx="416052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971800"/>
            <a:ext cx="45720" cy="804672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0266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657"/>
                </a:solidFill>
              </a:rPr>
              <a:t>Exception Handling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" y="335584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SocketException + ClientDisconnectException layers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971800"/>
            <a:ext cx="416052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971800"/>
            <a:ext cx="45720" cy="804672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30266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C0FF"/>
                </a:solidFill>
              </a:rPr>
              <a:t>Collections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18888" y="335584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CopyOnWriteArrayList + LinkedBlockingQueue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977640"/>
            <a:ext cx="416052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977640"/>
            <a:ext cx="45720" cy="804672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403250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6D364"/>
                </a:solidFill>
              </a:rPr>
              <a:t>Threads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9768" y="436168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ExecutorService thread pool, max 50 clients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3977640"/>
            <a:ext cx="416052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3977640"/>
            <a:ext cx="45720" cy="80467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403250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72"/>
                </a:solidFill>
              </a:rPr>
              <a:t>Design Pattern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18888" y="436168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Observer Pattern — Subject + Observers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83717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200" kern="0" dirty="0">
                <a:solidFill>
                  <a:srgbClr val="D6E4F0"/>
                </a:solidFill>
              </a:rPr>
              <a:t>OOP CONCEPTS APPLIED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463040" cy="2194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13716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SwingClient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+ ConsoleClient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E4F0"/>
                </a:solidFill>
              </a:rPr>
              <a:t>Client Layer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86000" y="157276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-&gt;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23160" y="1005840"/>
            <a:ext cx="2011680" cy="1371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097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ClientHandler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Thread + Observer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1920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E4F0"/>
                </a:solidFill>
              </a:rPr>
              <a:t>Connection Layer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34840" y="157276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-&gt;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2011680" cy="1371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097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ChatServer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Subject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920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E4F0"/>
                </a:solidFill>
              </a:rPr>
              <a:t>Broadcast Engine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583680" y="157276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-&gt;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20840" y="1005840"/>
            <a:ext cx="2011680" cy="13716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097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MessageLogger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PersistenceMgr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1920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E4F0"/>
                </a:solidFill>
              </a:rPr>
              <a:t>Storage Layer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4320" y="26060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Thread Safety Strategy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017520"/>
            <a:ext cx="2011680" cy="1508760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017520"/>
            <a:ext cx="201168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01752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CopyOnWriteArrayList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429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3864"/>
                </a:solidFill>
              </a:rPr>
              <a:t>Observer registry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3864"/>
                </a:solidFill>
              </a:rPr>
              <a:t>lock-free reads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68880" y="3017520"/>
            <a:ext cx="2011680" cy="1508760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68880" y="3017520"/>
            <a:ext cx="201168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42032" y="301752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LinkedBlockingQueue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60320" y="3429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3864"/>
                </a:solidFill>
              </a:rPr>
              <a:t>Message queue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3864"/>
                </a:solidFill>
              </a:rPr>
              <a:t>thread-safe I/O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017520"/>
            <a:ext cx="2011680" cy="1508760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017520"/>
            <a:ext cx="201168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301752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ExecutorService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3429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3864"/>
                </a:solidFill>
              </a:rPr>
              <a:t>Thread pool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3864"/>
                </a:solidFill>
              </a:rPr>
              <a:t>max 50 clients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0" y="3017520"/>
            <a:ext cx="2011680" cy="1508760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58000" y="3017520"/>
            <a:ext cx="201168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31152" y="301752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ConcurrentHashMap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49440" y="3429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3864"/>
                </a:solidFill>
              </a:rPr>
              <a:t>Typing users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3864"/>
                </a:solidFill>
              </a:rPr>
              <a:t>no sync overhead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83717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200" kern="0" dirty="0">
                <a:solidFill>
                  <a:srgbClr val="D6E4F0"/>
                </a:solidFill>
              </a:rPr>
              <a:t>SYSTEM ARCHITECTURE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463040" cy="2194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FEATURES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Core Features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65176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60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A6FF"/>
                </a:solidFill>
              </a:rPr>
              <a:t>TCP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0120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Multi-Client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90472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TCP sockets + concurrent connections via thread pool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265176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960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A6FF"/>
                </a:solidFill>
              </a:rPr>
              <a:t>OBS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840480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Real-Time Broadcast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1490472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Observer Pattern routes every message to all clients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9601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960120"/>
            <a:ext cx="265176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960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A6FF"/>
                </a:solidFill>
              </a:rPr>
              <a:t>DM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20840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Private DMs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1490472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/msg &lt;user&gt; sends directly to one observer only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8803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880360"/>
            <a:ext cx="265176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880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A6FF"/>
                </a:solidFill>
              </a:rPr>
              <a:t>TYPE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60120" y="2880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Typing Indicator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410712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[TYPING] signals broadcast to all except the typer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8803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880360"/>
            <a:ext cx="265176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880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A6FF"/>
                </a:solidFill>
              </a:rPr>
              <a:t>LOG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40480" y="2880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Persistent Logs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37560" y="3410712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MessageLogger writes to chat_history.txt with timestamps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28803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2880360"/>
            <a:ext cx="265176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2880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A6FF"/>
                </a:solidFill>
              </a:rPr>
              <a:t>GUI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720840" y="2880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GUI + Console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17920" y="3410712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Dark-theme Swing client and terminal console client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3717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200" kern="0" dirty="0">
                <a:solidFill>
                  <a:srgbClr val="D6E4F0"/>
                </a:solidFill>
              </a:rPr>
              <a:t>CORE FEATURES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463040" cy="21945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HOW IT WORKS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Message Flow — End to End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50876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1508760" cy="5029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Client types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233172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Input sent via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PrintWriter socket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2377440"/>
            <a:ext cx="210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-&gt;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93392" y="1097280"/>
            <a:ext cx="150876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93392" y="1097280"/>
            <a:ext cx="1508760" cy="5029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10972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66544" y="1691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ClientHandler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66544" y="233172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listenForMessages()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reads the 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02152" y="2377440"/>
            <a:ext cx="210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-&gt;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12464" y="1097280"/>
            <a:ext cx="150876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1097280"/>
            <a:ext cx="1508760" cy="502920"/>
          </a:xfrm>
          <a:prstGeom prst="rect">
            <a:avLst/>
          </a:prstGeom>
          <a:solidFill>
            <a:srgbClr val="F79E0B"/>
          </a:solidFill>
          <a:ln w="12700">
            <a:solidFill>
              <a:srgbClr val="F7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10972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785616" y="1691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E0B"/>
                </a:solidFill>
              </a:rPr>
              <a:t>broadcast()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85616" y="233172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Queued into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LinkedBlockingQueue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21224" y="2377440"/>
            <a:ext cx="210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-&gt;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31536" y="1097280"/>
            <a:ext cx="150876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31536" y="1097280"/>
            <a:ext cx="1508760" cy="50292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31536" y="10972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04688" y="1691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2A8FF"/>
                </a:solidFill>
              </a:rPr>
              <a:t>processQueue()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04688" y="233172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Drains queue,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calls update()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0296" y="2377440"/>
            <a:ext cx="210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-&gt;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150608" y="1097280"/>
            <a:ext cx="150876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50608" y="1097280"/>
            <a:ext cx="1508760" cy="50292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50608" y="10972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23760" y="1691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B72"/>
                </a:solidFill>
              </a:rPr>
              <a:t>All Observers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23760" y="233172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Socket clients +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MessageLogger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526280"/>
            <a:ext cx="859536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54456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(ChatObserver observer : observers) { observer.update(message); }  // Polymorphism in action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83717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200" kern="0" dirty="0">
                <a:solidFill>
                  <a:srgbClr val="D6E4F0"/>
                </a:solidFill>
              </a:rPr>
              <a:t>MESSAGE FLOW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463040" cy="2194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TESTING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Testing Strategy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54864" cy="3840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</a:rPr>
              <a:t>Unit Tests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MockObserver records every update() call.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No sockets, no threads required.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23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testRegisterObserver</a:t>
            </a:r>
            <a:endParaRPr lang="en-US" sz="9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23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testBroadcastReachesAllObservers</a:t>
            </a:r>
            <a:endParaRPr lang="en-US" sz="9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23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testUnregisterObserver</a:t>
            </a:r>
            <a:endParaRPr lang="en-US" sz="9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23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testBroadcastAfterUnregister</a:t>
            </a:r>
            <a:endParaRPr lang="en-US" sz="9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23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testMultipleMessages</a:t>
            </a:r>
            <a:endParaRPr lang="en-US" sz="9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23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testEmptyBroadcast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960120"/>
            <a:ext cx="54864" cy="3840480"/>
          </a:xfrm>
          <a:prstGeom prst="rect">
            <a:avLst/>
          </a:prstGeom>
          <a:solidFill>
            <a:srgbClr val="23C55E"/>
          </a:solidFill>
          <a:ln w="12700">
            <a:solidFill>
              <a:srgbClr val="23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515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C55E"/>
                </a:solidFill>
              </a:rPr>
              <a:t>Integration Tests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5087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Live ChatServer on port 5050.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Real sockets. Real clients. Real assertions.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148840"/>
            <a:ext cx="3429000" cy="713232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19456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testClientConnects...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249631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Alice sends -&gt; Bob receives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990088"/>
            <a:ext cx="3429000" cy="713232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03580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testPrivateMessageTarget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0" y="33375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DM to Bob; Charlie excluded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3831336"/>
            <a:ext cx="3429000" cy="713232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877056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testDisconnectNotifies...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417880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Quit -&gt; leave msg broadcast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83717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200" kern="0" dirty="0">
                <a:solidFill>
                  <a:srgbClr val="D6E4F0"/>
                </a:solidFill>
              </a:rPr>
              <a:t>TESTING STRATEGY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463040" cy="21945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HOW TO RUN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Running the Application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06908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4069080" cy="41148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875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01  Compile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4630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src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. -name '*.java' | xargs javac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987552"/>
            <a:ext cx="406908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987552"/>
            <a:ext cx="4069080" cy="41148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875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02  Start Server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73168" y="14630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com.chatapp.Main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834640"/>
            <a:ext cx="406908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834640"/>
            <a:ext cx="4069080" cy="41148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834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03  Swing Client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" y="331012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com.chatapp.client.SwingClient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406908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834640"/>
            <a:ext cx="4069080" cy="41148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834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04  Console Client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73168" y="331012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com.chatapp.client.ConsoleClient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9028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Commands: 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(text) -&gt; broadcast  </a:t>
            </a:r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/msg &lt;user&gt; &lt;text&gt;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-&gt; DM  </a:t>
            </a:r>
            <a:pPr indent="0" marL="0">
              <a:buNone/>
            </a:pPr>
            <a:r>
              <a:rPr lang="en-US" sz="9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/quit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-&gt; disconnect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83717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200" kern="0" dirty="0">
                <a:solidFill>
                  <a:srgbClr val="D6E4F0"/>
                </a:solidFill>
              </a:rPr>
              <a:t>HOW TO RUN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463040" cy="2194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SCALABILITY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Scalability &amp; Future Direction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7432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</a:rPr>
              <a:t>Current  -  Thread Pool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ExecutorService.newFixedThreadPool(50)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2468880" cy="914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One thread per client connection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Fixed cap prevents resource exhaustion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Queue new clients when pool is full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Handles ~50 concurrent users cleanly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60120"/>
            <a:ext cx="2743200" cy="54864"/>
          </a:xfrm>
          <a:prstGeom prst="rect">
            <a:avLst/>
          </a:prstGeom>
          <a:solidFill>
            <a:srgbClr val="23C55E"/>
          </a:solidFill>
          <a:ln w="12700">
            <a:solidFill>
              <a:srgbClr val="23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0515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C55E"/>
                </a:solidFill>
              </a:rPr>
              <a:t>Next Step  -  Java NIO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1463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 + SocketChannel (non-blocking)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383280" y="1938528"/>
            <a:ext cx="2468880" cy="914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05740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Single thread polls for ready channels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No blocking on individual sockets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Thousands of connections, low memory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Architecture of Netty and Vert.x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96012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0515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Future  -  Virtual Threads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1463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Loom - JDK 21+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309360" y="1938528"/>
            <a:ext cx="2468880" cy="914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05740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Lightweight threads from JVM scheduler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Same code as current, massive scale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Millions of concurrent connections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No NIO complexity needed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83717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200" kern="0" dirty="0">
                <a:solidFill>
                  <a:srgbClr val="D6E4F0"/>
                </a:solidFill>
              </a:rPr>
              <a:t>SCALABILITY &amp; FUTURE DIRECTION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804672"/>
          </a:xfrm>
          <a:prstGeom prst="rect">
            <a:avLst/>
          </a:prstGeom>
          <a:solidFill>
            <a:srgbClr val="243B6E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5720" cy="8046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1498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Architecture First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62456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Observer Pattern is the backbone — not a bolt-on. Every message flows through the same interface regardless of the observer type.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47672"/>
            <a:ext cx="8412480" cy="804672"/>
          </a:xfrm>
          <a:prstGeom prst="rect">
            <a:avLst/>
          </a:prstGeom>
          <a:solidFill>
            <a:srgbClr val="243B6E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47672"/>
            <a:ext cx="45720" cy="8046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0253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Thread Safety Done Right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35000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CopyOnWriteArrayList + LinkedBlockingQueue prevent race conditions at exactly the right layers with no over-engineering.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935224"/>
            <a:ext cx="8412480" cy="804672"/>
          </a:xfrm>
          <a:prstGeom prst="rect">
            <a:avLst/>
          </a:prstGeom>
          <a:solidFill>
            <a:srgbClr val="243B6E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35224"/>
            <a:ext cx="45720" cy="8046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9008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Open/Closed Principle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33756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New observer types need only implement ChatObserver — no existing classes need modification to extend the system.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922776"/>
            <a:ext cx="8412480" cy="804672"/>
          </a:xfrm>
          <a:prstGeom prst="rect">
            <a:avLst/>
          </a:prstGeom>
          <a:solidFill>
            <a:srgbClr val="243B6E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922776"/>
            <a:ext cx="45720" cy="8046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776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Tested End-to-End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32511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MockObserver unit tests + live socket integration tests verify every critical behavior from registration to disconnect.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solidFill>
            <a:srgbClr val="243B6E"/>
          </a:solidFill>
          <a:ln w="12700">
            <a:solidFill>
              <a:srgbClr val="243B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E4F0"/>
                </a:solidFill>
              </a:rPr>
              <a:t>PCCCS495  -  Real-Time Chat Application with Observer-Based Messaging  |  Java OOP Project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Chat Application</dc:title>
  <dc:subject>PptxGenJS Presentation</dc:subject>
  <dc:creator>PptxGenJS</dc:creator>
  <cp:lastModifiedBy>PptxGenJS</cp:lastModifiedBy>
  <cp:revision>1</cp:revision>
  <dcterms:created xsi:type="dcterms:W3CDTF">2026-03-29T09:15:07Z</dcterms:created>
  <dcterms:modified xsi:type="dcterms:W3CDTF">2026-03-29T09:15:07Z</dcterms:modified>
</cp:coreProperties>
</file>